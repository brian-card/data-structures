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9309388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9309388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9309388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9309388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9309388a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9309388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9309388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9309388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9309388a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9309388a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9309388a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9309388a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9309388a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9309388a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c9309388a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c9309388a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9309388aa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9309388a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9309388aa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9309388aa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9309388aa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9309388aa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9309388aa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9309388aa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9309388aa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9309388aa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9309388aa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9309388aa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9309388aa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9309388aa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9309388a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9309388a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9309388aa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9309388aa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9309388aa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9309388aa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f2901f9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bf2901f9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Lists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Brian Card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Properties of a list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en"/>
              <a:t>The usual insertion use case for a list is adding items to the back</a:t>
            </a:r>
            <a:endParaRPr/>
          </a:p>
          <a:p>
            <a:pPr indent="-304165" lvl="1" marL="914400" rtl="0" algn="l">
              <a:spcBef>
                <a:spcPts val="0"/>
              </a:spcBef>
              <a:spcAft>
                <a:spcPts val="0"/>
              </a:spcAft>
              <a:buSzPct val="100000"/>
              <a:buChar char="○"/>
            </a:pPr>
            <a:r>
              <a:rPr lang="en"/>
              <a:t>This should be an O(1) operation</a:t>
            </a:r>
            <a:endParaRPr/>
          </a:p>
          <a:p>
            <a:pPr indent="-304165" lvl="1" marL="914400" rtl="0" algn="l">
              <a:spcBef>
                <a:spcPts val="0"/>
              </a:spcBef>
              <a:spcAft>
                <a:spcPts val="0"/>
              </a:spcAft>
              <a:buSzPct val="100000"/>
              <a:buChar char="○"/>
            </a:pPr>
            <a:r>
              <a:rPr lang="en"/>
              <a:t>This maintains insertion order</a:t>
            </a:r>
            <a:endParaRPr/>
          </a:p>
          <a:p>
            <a:pPr indent="-325755" lvl="0" marL="457200" rtl="0" algn="l">
              <a:spcBef>
                <a:spcPts val="0"/>
              </a:spcBef>
              <a:spcAft>
                <a:spcPts val="0"/>
              </a:spcAft>
              <a:buSzPct val="100000"/>
              <a:buChar char="●"/>
            </a:pPr>
            <a:r>
              <a:rPr lang="en"/>
              <a:t>The usual access pattern of a list is starting from the beginning and accessing each element from start to finish</a:t>
            </a:r>
            <a:endParaRPr/>
          </a:p>
          <a:p>
            <a:pPr indent="-304165" lvl="1" marL="914400" rtl="0" algn="l">
              <a:spcBef>
                <a:spcPts val="0"/>
              </a:spcBef>
              <a:spcAft>
                <a:spcPts val="0"/>
              </a:spcAft>
              <a:buSzPct val="100000"/>
              <a:buChar char="○"/>
            </a:pPr>
            <a:r>
              <a:rPr lang="en"/>
              <a:t>This </a:t>
            </a:r>
            <a:r>
              <a:rPr lang="en"/>
              <a:t>requires</a:t>
            </a:r>
            <a:r>
              <a:rPr lang="en"/>
              <a:t> use of a list iterator</a:t>
            </a:r>
            <a:endParaRPr/>
          </a:p>
          <a:p>
            <a:pPr indent="-325755" lvl="0" marL="457200" rtl="0" algn="l">
              <a:spcBef>
                <a:spcPts val="0"/>
              </a:spcBef>
              <a:spcAft>
                <a:spcPts val="0"/>
              </a:spcAft>
              <a:buSzPct val="100000"/>
              <a:buChar char="●"/>
            </a:pPr>
            <a:r>
              <a:rPr lang="en"/>
              <a:t>Finding an item in a list requires starting from the beginning and traversing it until the desired value is found or the end of the list is reached (meaning the item is not in the list)</a:t>
            </a:r>
            <a:endParaRPr/>
          </a:p>
          <a:p>
            <a:pPr indent="-304165" lvl="1" marL="914400" rtl="0" algn="l">
              <a:spcBef>
                <a:spcPts val="0"/>
              </a:spcBef>
              <a:spcAft>
                <a:spcPts val="0"/>
              </a:spcAft>
              <a:buSzPct val="100000"/>
              <a:buChar char="○"/>
            </a:pPr>
            <a:r>
              <a:rPr lang="en"/>
              <a:t>This means that searching a list is an O(n) operation</a:t>
            </a:r>
            <a:endParaRPr/>
          </a:p>
          <a:p>
            <a:pPr indent="-325755" lvl="0" marL="457200" rtl="0" algn="l">
              <a:spcBef>
                <a:spcPts val="0"/>
              </a:spcBef>
              <a:spcAft>
                <a:spcPts val="0"/>
              </a:spcAft>
              <a:buSzPct val="100000"/>
              <a:buChar char="●"/>
            </a:pPr>
            <a:r>
              <a:rPr lang="en"/>
              <a:t>Deleting an item from a list requires first finding it, so it's expected to be an O(n) operation</a:t>
            </a:r>
            <a:endParaRPr/>
          </a:p>
          <a:p>
            <a:pPr indent="-325755" lvl="0" marL="457200" rtl="0" algn="l">
              <a:spcBef>
                <a:spcPts val="0"/>
              </a:spcBef>
              <a:spcAft>
                <a:spcPts val="0"/>
              </a:spcAft>
              <a:buSzPct val="100000"/>
              <a:buChar char="●"/>
            </a:pPr>
            <a:r>
              <a:rPr lang="en"/>
              <a:t>Not all lists support changing an existing value in a list</a:t>
            </a:r>
            <a:endParaRPr/>
          </a:p>
          <a:p>
            <a:pPr indent="-304165" lvl="1" marL="914400" rtl="0" algn="l">
              <a:spcBef>
                <a:spcPts val="0"/>
              </a:spcBef>
              <a:spcAft>
                <a:spcPts val="0"/>
              </a:spcAft>
              <a:buSzPct val="100000"/>
              <a:buChar char="○"/>
            </a:pPr>
            <a:r>
              <a:rPr lang="en"/>
              <a:t>For those that do, the existing value has to be found first, so modifying a value is expected to be an O(n) operation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List implementations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are two (2) basic kinds of list implementations:</a:t>
            </a:r>
            <a:endParaRPr/>
          </a:p>
          <a:p>
            <a:pPr indent="-317500" lvl="1" marL="914400" rtl="0" algn="l">
              <a:spcBef>
                <a:spcPts val="0"/>
              </a:spcBef>
              <a:spcAft>
                <a:spcPts val="0"/>
              </a:spcAft>
              <a:buSzPts val="1400"/>
              <a:buChar char="○"/>
            </a:pPr>
            <a:r>
              <a:rPr lang="en"/>
              <a:t>Array lists</a:t>
            </a:r>
            <a:endParaRPr/>
          </a:p>
          <a:p>
            <a:pPr indent="-317500" lvl="1" marL="914400" rtl="0" algn="l">
              <a:spcBef>
                <a:spcPts val="0"/>
              </a:spcBef>
              <a:spcAft>
                <a:spcPts val="0"/>
              </a:spcAft>
              <a:buSzPts val="1400"/>
              <a:buChar char="○"/>
            </a:pPr>
            <a:r>
              <a:rPr lang="en"/>
              <a:t>Linked lists</a:t>
            </a:r>
            <a:endParaRPr/>
          </a:p>
          <a:p>
            <a:pPr indent="-342900" lvl="0" marL="457200" rtl="0" algn="l">
              <a:spcBef>
                <a:spcPts val="0"/>
              </a:spcBef>
              <a:spcAft>
                <a:spcPts val="0"/>
              </a:spcAft>
              <a:buSzPts val="1800"/>
              <a:buChar char="●"/>
            </a:pPr>
            <a:r>
              <a:rPr lang="en"/>
              <a:t>Array lists potentially take up more memory but they're simpler to implement</a:t>
            </a:r>
            <a:endParaRPr/>
          </a:p>
          <a:p>
            <a:pPr indent="-317500" lvl="1" marL="914400" rtl="0" algn="l">
              <a:spcBef>
                <a:spcPts val="0"/>
              </a:spcBef>
              <a:spcAft>
                <a:spcPts val="0"/>
              </a:spcAft>
              <a:buSzPts val="1400"/>
              <a:buChar char="○"/>
            </a:pPr>
            <a:r>
              <a:rPr lang="en"/>
              <a:t>They don't have as many dynamic memory operations</a:t>
            </a:r>
            <a:endParaRPr/>
          </a:p>
          <a:p>
            <a:pPr indent="-342900" lvl="0" marL="457200" rtl="0" algn="l">
              <a:spcBef>
                <a:spcPts val="0"/>
              </a:spcBef>
              <a:spcAft>
                <a:spcPts val="0"/>
              </a:spcAft>
              <a:buSzPts val="1800"/>
              <a:buChar char="●"/>
            </a:pPr>
            <a:r>
              <a:rPr lang="en"/>
              <a:t>Linked lists are memory efficient but require more memory allocations and deallocations and more pointer manipulations</a:t>
            </a:r>
            <a:endParaRPr/>
          </a:p>
          <a:p>
            <a:pPr indent="-342900" lvl="0" marL="457200" rtl="0" algn="l">
              <a:spcBef>
                <a:spcPts val="0"/>
              </a:spcBef>
              <a:spcAft>
                <a:spcPts val="0"/>
              </a:spcAft>
              <a:buSzPts val="1800"/>
              <a:buChar char="●"/>
            </a:pPr>
            <a:r>
              <a:rPr lang="en"/>
              <a:t>Both meet all the basic qualifications of a list from an outside perspective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We will talk about array lists in this lesson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Array Lists</a:t>
            </a:r>
            <a:endParaRPr/>
          </a:p>
        </p:txBody>
      </p:sp>
      <p:sp>
        <p:nvSpPr>
          <p:cNvPr id="73" name="Google Shape;73;p1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definition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main container for an array list only needs to contain the list of elements, the size of the array, and the number of elements currently in the array</a:t>
            </a:r>
            <a:endParaRPr/>
          </a:p>
          <a:p>
            <a:pPr indent="0" lvl="0" marL="0" rtl="0" algn="l">
              <a:lnSpc>
                <a:spcPct val="105000"/>
              </a:lnSpc>
              <a:spcBef>
                <a:spcPts val="300"/>
              </a:spcBef>
              <a:spcAft>
                <a:spcPts val="0"/>
              </a:spcAft>
              <a:buNone/>
            </a:pPr>
            <a:r>
              <a:rPr lang="en"/>
              <a:t>Example:</a:t>
            </a:r>
            <a:endParaRPr/>
          </a:p>
          <a:p>
            <a:pPr indent="0" lvl="0" marL="0" rtl="0" algn="l">
              <a:lnSpc>
                <a:spcPct val="105000"/>
              </a:lnSpc>
              <a:spcBef>
                <a:spcPts val="0"/>
              </a:spcBef>
              <a:spcAft>
                <a:spcPts val="0"/>
              </a:spcAft>
              <a:buNone/>
            </a:pPr>
            <a:r>
              <a:rPr lang="en">
                <a:latin typeface="Courier New"/>
                <a:ea typeface="Courier New"/>
                <a:cs typeface="Courier New"/>
                <a:sym typeface="Courier New"/>
              </a:rPr>
              <a:t>typedef struct ArrayList {</a:t>
            </a:r>
            <a:endParaRPr>
              <a:latin typeface="Courier New"/>
              <a:ea typeface="Courier New"/>
              <a:cs typeface="Courier New"/>
              <a:sym typeface="Courier New"/>
            </a:endParaRPr>
          </a:p>
          <a:p>
            <a:pPr indent="0" lvl="0" marL="0" rtl="0" algn="l">
              <a:lnSpc>
                <a:spcPct val="105000"/>
              </a:lnSpc>
              <a:spcBef>
                <a:spcPts val="0"/>
              </a:spcBef>
              <a:spcAft>
                <a:spcPts val="0"/>
              </a:spcAft>
              <a:buNone/>
            </a:pPr>
            <a:r>
              <a:rPr lang="en">
                <a:latin typeface="Courier New"/>
                <a:ea typeface="Courier New"/>
                <a:cs typeface="Courier New"/>
                <a:sym typeface="Courier New"/>
              </a:rPr>
              <a:t>    int *array;</a:t>
            </a:r>
            <a:endParaRPr>
              <a:latin typeface="Courier New"/>
              <a:ea typeface="Courier New"/>
              <a:cs typeface="Courier New"/>
              <a:sym typeface="Courier New"/>
            </a:endParaRPr>
          </a:p>
          <a:p>
            <a:pPr indent="0" lvl="0" marL="0" rtl="0" algn="l">
              <a:lnSpc>
                <a:spcPct val="105000"/>
              </a:lnSpc>
              <a:spcBef>
                <a:spcPts val="0"/>
              </a:spcBef>
              <a:spcAft>
                <a:spcPts val="0"/>
              </a:spcAft>
              <a:buNone/>
            </a:pPr>
            <a:r>
              <a:rPr lang="en">
                <a:latin typeface="Courier New"/>
                <a:ea typeface="Courier New"/>
                <a:cs typeface="Courier New"/>
                <a:sym typeface="Courier New"/>
              </a:rPr>
              <a:t>    int arraySize;</a:t>
            </a:r>
            <a:endParaRPr>
              <a:latin typeface="Courier New"/>
              <a:ea typeface="Courier New"/>
              <a:cs typeface="Courier New"/>
              <a:sym typeface="Courier New"/>
            </a:endParaRPr>
          </a:p>
          <a:p>
            <a:pPr indent="0" lvl="0" marL="0" rtl="0" algn="l">
              <a:lnSpc>
                <a:spcPct val="105000"/>
              </a:lnSpc>
              <a:spcBef>
                <a:spcPts val="0"/>
              </a:spcBef>
              <a:spcAft>
                <a:spcPts val="0"/>
              </a:spcAft>
              <a:buNone/>
            </a:pPr>
            <a:r>
              <a:rPr lang="en">
                <a:latin typeface="Courier New"/>
                <a:ea typeface="Courier New"/>
                <a:cs typeface="Courier New"/>
                <a:sym typeface="Courier New"/>
              </a:rPr>
              <a:t>    int listSize;</a:t>
            </a:r>
            <a:endParaRPr>
              <a:latin typeface="Courier New"/>
              <a:ea typeface="Courier New"/>
              <a:cs typeface="Courier New"/>
              <a:sym typeface="Courier New"/>
            </a:endParaRPr>
          </a:p>
          <a:p>
            <a:pPr indent="0" lvl="0" marL="0" rtl="0" algn="l">
              <a:lnSpc>
                <a:spcPct val="105000"/>
              </a:lnSpc>
              <a:spcBef>
                <a:spcPts val="0"/>
              </a:spcBef>
              <a:spcAft>
                <a:spcPts val="0"/>
              </a:spcAft>
              <a:buNone/>
            </a:pPr>
            <a:r>
              <a:rPr lang="en">
                <a:latin typeface="Courier New"/>
                <a:ea typeface="Courier New"/>
                <a:cs typeface="Courier New"/>
                <a:sym typeface="Courier New"/>
              </a:rPr>
              <a:t>} ArrayList;</a:t>
            </a:r>
            <a:endParaRPr>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initialization</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291465" lvl="0" marL="457200" rtl="0" algn="l">
              <a:spcBef>
                <a:spcPts val="0"/>
              </a:spcBef>
              <a:spcAft>
                <a:spcPts val="0"/>
              </a:spcAft>
              <a:buSzPct val="100000"/>
              <a:buChar char="●"/>
            </a:pPr>
            <a:r>
              <a:rPr lang="en"/>
              <a:t>The array of an array list should always be large enough to hold at least one more item than it currently does</a:t>
            </a:r>
            <a:endParaRPr/>
          </a:p>
          <a:p>
            <a:pPr indent="-291465" lvl="0" marL="457200" rtl="0" algn="l">
              <a:lnSpc>
                <a:spcPct val="105000"/>
              </a:lnSpc>
              <a:spcBef>
                <a:spcPts val="0"/>
              </a:spcBef>
              <a:spcAft>
                <a:spcPts val="0"/>
              </a:spcAft>
              <a:buSzPct val="100000"/>
              <a:buChar char="●"/>
            </a:pPr>
            <a:r>
              <a:rPr lang="en"/>
              <a:t>It's recommended to choose a starting size that's useful for the expected minimum case</a:t>
            </a:r>
            <a:endParaRPr/>
          </a:p>
          <a:p>
            <a:pPr indent="0" lvl="0" marL="0" rtl="0" algn="l">
              <a:spcBef>
                <a:spcPts val="600"/>
              </a:spcBef>
              <a:spcAft>
                <a:spcPts val="0"/>
              </a:spcAft>
              <a:buNone/>
            </a:pPr>
            <a:r>
              <a:rPr lang="en"/>
              <a:t>Example: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latin typeface="Courier New"/>
                <a:ea typeface="Courier New"/>
                <a:cs typeface="Courier New"/>
                <a:sym typeface="Courier New"/>
              </a:rPr>
              <a:t>#define MIN_ARRAY_SIZE 4</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ArrayList* arrayListCreate(void)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 *arrayList = (ArrayList*) malloc(sizeof(ArrayList));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 = (int*) malloc(</a:t>
            </a:r>
            <a:r>
              <a:rPr lang="en">
                <a:latin typeface="Courier New"/>
                <a:ea typeface="Courier New"/>
                <a:cs typeface="Courier New"/>
                <a:sym typeface="Courier New"/>
              </a:rPr>
              <a:t>MIN_ARRAY_SIZE * sizeof(int));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(arrayList-&gt;array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free(arrayList); arrayList =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arrayList-&gt;arraySize = MIN_ARRAY_SIZE;</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arrayList-&gt;listSize = 0;</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arrayList;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insertion</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lnSpcReduction="20000"/>
          </a:bodyPr>
          <a:lstStyle/>
          <a:p>
            <a:pPr indent="-274320" lvl="0" marL="457200" rtl="0" algn="l">
              <a:spcBef>
                <a:spcPts val="0"/>
              </a:spcBef>
              <a:spcAft>
                <a:spcPts val="0"/>
              </a:spcAft>
              <a:buSzPct val="100000"/>
              <a:buChar char="●"/>
            </a:pPr>
            <a:r>
              <a:rPr lang="en"/>
              <a:t>Inserting to the back of an array list just sets the last value in the array</a:t>
            </a:r>
            <a:endParaRPr/>
          </a:p>
          <a:p>
            <a:pPr indent="-274320" lvl="0" marL="457200" rtl="0" algn="l">
              <a:spcBef>
                <a:spcPts val="0"/>
              </a:spcBef>
              <a:spcAft>
                <a:spcPts val="0"/>
              </a:spcAft>
              <a:buSzPct val="100000"/>
              <a:buChar char="●"/>
            </a:pPr>
            <a:r>
              <a:rPr lang="en"/>
              <a:t>However, the insertion function also has to make sure that there will be enough space in the array for the next insertion before it exits</a:t>
            </a:r>
            <a:endParaRPr/>
          </a:p>
          <a:p>
            <a:pPr indent="0" lvl="0" marL="0" rtl="0" algn="l">
              <a:spcBef>
                <a:spcPts val="3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int arrayListInsert(ArrayList *arrayList, int value)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else if (arrayList-&gt;listSize == arrayList-&gt;arraySize)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Array is full.  This means the previous attempt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to extend the array failed.  Nothing we can do.</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arrayList-&gt;array[arrayList-&gt;listSize] = value;</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arrayList-&gt;listSize++;</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(arrayList-&gt;listSize == arrayList-&gt;arraySize)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Double the size of the array</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int newArraySize = arrayList-&gt;arraySize * 2;</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void *check = realloc(arrayList-&gt;array, newArraySize * sizeof(int));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(check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Out of memory.</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 = (int*) check;</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arrayList-&gt;arraySize = newArraySize;</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search</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00037" lvl="0" marL="457200" rtl="0" algn="l">
              <a:spcBef>
                <a:spcPts val="0"/>
              </a:spcBef>
              <a:spcAft>
                <a:spcPts val="0"/>
              </a:spcAft>
              <a:buSzPct val="100000"/>
              <a:buChar char="●"/>
            </a:pPr>
            <a:r>
              <a:rPr lang="en"/>
              <a:t>Searching a list requires starting at the beginning and examining each element until the desired value is found</a:t>
            </a:r>
            <a:endParaRPr/>
          </a:p>
          <a:p>
            <a:pPr indent="-300037" lvl="0" marL="457200" rtl="0" algn="l">
              <a:lnSpc>
                <a:spcPct val="105000"/>
              </a:lnSpc>
              <a:spcBef>
                <a:spcPts val="0"/>
              </a:spcBef>
              <a:spcAft>
                <a:spcPts val="0"/>
              </a:spcAft>
              <a:buSzPct val="100000"/>
              <a:buChar char="●"/>
            </a:pPr>
            <a:r>
              <a:rPr lang="en"/>
              <a:t>The result of a search should be an address of some kind</a:t>
            </a:r>
            <a:endParaRPr/>
          </a:p>
          <a:p>
            <a:pPr indent="0" lvl="0" marL="0" rtl="0" algn="l">
              <a:spcBef>
                <a:spcPts val="3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int arrayListSearch(ArrayList *arrayList, int value)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Cannot search</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for (int ii = 0; ii &lt; arrayList-&gt;listSize; ii++)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(arrayList-&gt;array[ii] == value)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a:t>
            </a:r>
            <a:r>
              <a:rPr lang="en">
                <a:latin typeface="Courier New"/>
                <a:ea typeface="Courier New"/>
                <a:cs typeface="Courier New"/>
                <a:sym typeface="Courier New"/>
              </a:rPr>
              <a:t>ii;</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value not found</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remove</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Removing a value requires first finding the value</a:t>
            </a:r>
            <a:endParaRPr/>
          </a:p>
          <a:p>
            <a:pPr indent="-308610" lvl="0" marL="457200" rtl="0" algn="l">
              <a:lnSpc>
                <a:spcPct val="105000"/>
              </a:lnSpc>
              <a:spcBef>
                <a:spcPts val="0"/>
              </a:spcBef>
              <a:spcAft>
                <a:spcPts val="0"/>
              </a:spcAft>
              <a:buSzPct val="100000"/>
              <a:buChar char="●"/>
            </a:pPr>
            <a:r>
              <a:rPr lang="en"/>
              <a:t>If found, the data from that point onward has to be shifted down</a:t>
            </a:r>
            <a:endParaRPr/>
          </a:p>
          <a:p>
            <a:pPr indent="0" lvl="0" marL="0" rtl="0" algn="l">
              <a:spcBef>
                <a:spcPts val="3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int arrayListRemove(ArrayList *arrayList, int value)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int foundIndex = arrayListSearch(arrayList, value);</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(foundIndex &lt; 0)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 Value not in list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for (int ii = foundIndex; ii &lt; (arrayList-&gt;listSize - 1); ii++)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arrayList-&gt;array[ii] = arrayList-&gt;array[ii + 1];</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arrayList-&gt;listSize</a:t>
            </a:r>
            <a:r>
              <a:rPr lang="en">
                <a:latin typeface="Courier New"/>
                <a:ea typeface="Courier New"/>
                <a:cs typeface="Courier New"/>
                <a:sym typeface="Courier New"/>
              </a:rPr>
              <a:t>--</a:t>
            </a:r>
            <a:r>
              <a:rPr lang="en">
                <a:latin typeface="Courier New"/>
                <a:ea typeface="Courier New"/>
                <a:cs typeface="Courier New"/>
                <a:sym typeface="Courier New"/>
              </a:rPr>
              <a:t>;</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0;</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Iterator</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 iterator for an Array List holds a pointer to the Array List and the index of the next value to return</a:t>
            </a:r>
            <a:endParaRPr/>
          </a:p>
          <a:p>
            <a:pPr indent="0" lvl="0" marL="0" rtl="0" algn="l">
              <a:spcBef>
                <a:spcPts val="1200"/>
              </a:spcBef>
              <a:spcAft>
                <a:spcPts val="0"/>
              </a:spcAft>
              <a:buNone/>
            </a:pPr>
            <a:r>
              <a:rPr lang="en"/>
              <a:t>Example:</a:t>
            </a:r>
            <a:endParaRPr/>
          </a:p>
          <a:p>
            <a:pPr indent="0" lvl="0" marL="0" rtl="0" algn="l">
              <a:spcBef>
                <a:spcPts val="1200"/>
              </a:spcBef>
              <a:spcAft>
                <a:spcPts val="0"/>
              </a:spcAft>
              <a:buNone/>
            </a:pPr>
            <a:r>
              <a:rPr lang="en">
                <a:latin typeface="Courier New"/>
                <a:ea typeface="Courier New"/>
                <a:cs typeface="Courier New"/>
                <a:sym typeface="Courier New"/>
              </a:rPr>
              <a:t>typedef struct ALIter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ArrayList *arrayList;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int nextIndex;</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ALIter;</a:t>
            </a:r>
            <a:endParaRPr>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Iterator initialization</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300037" lvl="0" marL="457200" rtl="0" algn="l">
              <a:spcBef>
                <a:spcPts val="0"/>
              </a:spcBef>
              <a:spcAft>
                <a:spcPts val="0"/>
              </a:spcAft>
              <a:buSzPct val="100000"/>
              <a:buChar char="●"/>
            </a:pPr>
            <a:r>
              <a:rPr lang="en"/>
              <a:t>If the Array List is non-empty, then initialization will return a pointer to a new Array List iterator</a:t>
            </a:r>
            <a:endParaRPr/>
          </a:p>
          <a:p>
            <a:pPr indent="-300037" lvl="0" marL="457200" rtl="0" algn="l">
              <a:spcBef>
                <a:spcPts val="0"/>
              </a:spcBef>
              <a:spcAft>
                <a:spcPts val="0"/>
              </a:spcAft>
              <a:buSzPct val="100000"/>
              <a:buChar char="●"/>
            </a:pPr>
            <a:r>
              <a:rPr lang="en"/>
              <a:t>If the Array List is empty, then initialization will return NULL</a:t>
            </a:r>
            <a:endParaRPr/>
          </a:p>
          <a:p>
            <a:pPr indent="0" lvl="0" marL="0" rtl="0" algn="l">
              <a:spcBef>
                <a:spcPts val="3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ALIter* alIterCreate(ArrayList *arrayList)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((arrayList == NULL) || (arrayList-&gt;listSize == 0))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ALIter *alIter = (ALIter*) malloc(sizeof(ALIter));</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(alIter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alIter-&gt;arrayList = arrayList;</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alIter-&gt;nextIndex = 0;</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alIter;</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Iterator iterating</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Getting the next value of an iterator should increment the next index</a:t>
            </a:r>
            <a:endParaRPr/>
          </a:p>
          <a:p>
            <a:pPr indent="-308610" lvl="0" marL="457200" rtl="0" algn="l">
              <a:spcBef>
                <a:spcPts val="0"/>
              </a:spcBef>
              <a:spcAft>
                <a:spcPts val="0"/>
              </a:spcAft>
              <a:buSzPct val="100000"/>
              <a:buChar char="●"/>
            </a:pPr>
            <a:r>
              <a:rPr lang="en"/>
              <a:t>If the next index is less than the list size then the </a:t>
            </a:r>
            <a:r>
              <a:rPr lang="en"/>
              <a:t>function</a:t>
            </a:r>
            <a:r>
              <a:rPr lang="en"/>
              <a:t> should return the Array List Iterator pointer</a:t>
            </a:r>
            <a:endParaRPr/>
          </a:p>
          <a:p>
            <a:pPr indent="-308610" lvl="0" marL="457200" rtl="0" algn="l">
              <a:lnSpc>
                <a:spcPct val="105000"/>
              </a:lnSpc>
              <a:spcBef>
                <a:spcPts val="0"/>
              </a:spcBef>
              <a:spcAft>
                <a:spcPts val="0"/>
              </a:spcAft>
              <a:buSzPct val="100000"/>
              <a:buChar char="●"/>
            </a:pPr>
            <a:r>
              <a:rPr lang="en"/>
              <a:t>If the next index is equal to the list size then the function should free the memory and return NULL</a:t>
            </a:r>
            <a:endParaRPr/>
          </a:p>
          <a:p>
            <a:pPr indent="0" lvl="0" marL="0" rtl="0" algn="l">
              <a:spcBef>
                <a:spcPts val="3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ALIter* alIterNext(ALIter *alIter)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(alIter == NULL)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alIter-&gt;nextIndex++;</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if (alIter-&gt;nextIndex == alIter-&gt;arrayList-&gt;listSize)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free(alIter); alIter =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NULL;</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alIter;</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Array List Iterator value</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Getting the value of an iterator should just be a matter of getting the value of the next index in the Array List</a:t>
            </a:r>
            <a:endParaRPr/>
          </a:p>
          <a:p>
            <a:pPr indent="-342900" lvl="0" marL="457200" rtl="0" algn="l">
              <a:spcBef>
                <a:spcPts val="0"/>
              </a:spcBef>
              <a:spcAft>
                <a:spcPts val="0"/>
              </a:spcAft>
              <a:buSzPts val="1800"/>
              <a:buChar char="●"/>
            </a:pPr>
            <a:r>
              <a:rPr lang="en"/>
              <a:t>The function should not need to check for a NULL Array List Iterator because this should be handled as the stop condition outside of the function</a:t>
            </a:r>
            <a:endParaRPr/>
          </a:p>
          <a:p>
            <a:pPr indent="0" lvl="0" marL="0" rtl="0" algn="l">
              <a:spcBef>
                <a:spcPts val="1200"/>
              </a:spcBef>
              <a:spcAft>
                <a:spcPts val="0"/>
              </a:spcAft>
              <a:buNone/>
            </a:pPr>
            <a:r>
              <a:rPr lang="en"/>
              <a:t>Example:</a:t>
            </a:r>
            <a:endParaRPr/>
          </a:p>
          <a:p>
            <a:pPr indent="0" lvl="0" marL="0" rtl="0" algn="l">
              <a:spcBef>
                <a:spcPts val="0"/>
              </a:spcBef>
              <a:spcAft>
                <a:spcPts val="0"/>
              </a:spcAft>
              <a:buNone/>
            </a:pPr>
            <a:r>
              <a:rPr lang="en">
                <a:latin typeface="Courier New"/>
                <a:ea typeface="Courier New"/>
                <a:cs typeface="Courier New"/>
                <a:sym typeface="Courier New"/>
              </a:rPr>
              <a:t>int alIterValue(ALIter *alIter) {</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    return alIter-&gt;arrayList-&gt;array[alIter-&gt;nextIndex];</a:t>
            </a:r>
            <a:endParaRPr>
              <a:latin typeface="Courier New"/>
              <a:ea typeface="Courier New"/>
              <a:cs typeface="Courier New"/>
              <a:sym typeface="Courier New"/>
            </a:endParaRPr>
          </a:p>
          <a:p>
            <a:pPr indent="0" lvl="0" marL="0" rtl="0" algn="l">
              <a:spcBef>
                <a:spcPts val="0"/>
              </a:spcBef>
              <a:spcAft>
                <a:spcPts val="0"/>
              </a:spcAft>
              <a:buNone/>
            </a:pPr>
            <a:r>
              <a:rPr lang="en">
                <a:latin typeface="Courier New"/>
                <a:ea typeface="Courier New"/>
                <a:cs typeface="Courier New"/>
                <a:sym typeface="Courier New"/>
              </a:rPr>
              <a:t>}</a:t>
            </a:r>
            <a:endParaRPr>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Iterating over an Array List</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usual way of iterating over an Array List is with a for loop</a:t>
            </a:r>
            <a:endParaRPr/>
          </a:p>
          <a:p>
            <a:pPr indent="0" lvl="0" marL="0" rtl="0" algn="l">
              <a:spcBef>
                <a:spcPts val="1200"/>
              </a:spcBef>
              <a:spcAft>
                <a:spcPts val="0"/>
              </a:spcAft>
              <a:buNone/>
            </a:pPr>
            <a:r>
              <a:rPr lang="en"/>
              <a:t>Example:</a:t>
            </a:r>
            <a:endParaRPr/>
          </a:p>
          <a:p>
            <a:pPr indent="0" lvl="0" marL="0" rtl="0" algn="l">
              <a:spcBef>
                <a:spcPts val="0"/>
              </a:spcBef>
              <a:spcAft>
                <a:spcPts val="0"/>
              </a:spcAft>
              <a:buNone/>
            </a:pPr>
            <a:r>
              <a:rPr lang="en" sz="1045">
                <a:latin typeface="Courier New"/>
                <a:ea typeface="Courier New"/>
                <a:cs typeface="Courier New"/>
                <a:sym typeface="Courier New"/>
              </a:rPr>
              <a:t>int arrayListPrint(ArrayList *arrayList) {</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if (arrayList == NULL) {</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return -1;</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a:t>
            </a:r>
            <a:endParaRPr sz="1045">
              <a:latin typeface="Courier New"/>
              <a:ea typeface="Courier New"/>
              <a:cs typeface="Courier New"/>
              <a:sym typeface="Courier New"/>
            </a:endParaRPr>
          </a:p>
          <a:p>
            <a:pPr indent="0" lvl="0" marL="0" rtl="0" algn="l">
              <a:spcBef>
                <a:spcPts val="0"/>
              </a:spcBef>
              <a:spcAft>
                <a:spcPts val="0"/>
              </a:spcAft>
              <a:buNone/>
            </a:pPr>
            <a:r>
              <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printf("ArrayList contents:\n")</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for (ALIter *alIter = alIterCreate(arrayList);</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alIter != NULL;</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alIter = alIterNext(alIter)</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 {</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printf("%d\n", alIterValue(alIter));</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a:t>
            </a:r>
            <a:endParaRPr sz="1045">
              <a:latin typeface="Courier New"/>
              <a:ea typeface="Courier New"/>
              <a:cs typeface="Courier New"/>
              <a:sym typeface="Courier New"/>
            </a:endParaRPr>
          </a:p>
          <a:p>
            <a:pPr indent="0" lvl="0" marL="0" rtl="0" algn="l">
              <a:spcBef>
                <a:spcPts val="0"/>
              </a:spcBef>
              <a:spcAft>
                <a:spcPts val="0"/>
              </a:spcAft>
              <a:buNone/>
            </a:pPr>
            <a:r>
              <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    return 0;</a:t>
            </a:r>
            <a:endParaRPr sz="1045">
              <a:latin typeface="Courier New"/>
              <a:ea typeface="Courier New"/>
              <a:cs typeface="Courier New"/>
              <a:sym typeface="Courier New"/>
            </a:endParaRPr>
          </a:p>
          <a:p>
            <a:pPr indent="0" lvl="0" marL="0" rtl="0" algn="l">
              <a:spcBef>
                <a:spcPts val="0"/>
              </a:spcBef>
              <a:spcAft>
                <a:spcPts val="0"/>
              </a:spcAft>
              <a:buNone/>
            </a:pPr>
            <a:r>
              <a:rPr lang="en" sz="1045">
                <a:latin typeface="Courier New"/>
                <a:ea typeface="Courier New"/>
                <a:cs typeface="Courier New"/>
                <a:sym typeface="Courier New"/>
              </a:rPr>
              <a:t>}</a:t>
            </a:r>
            <a:endParaRPr sz="1045">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 usage</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#include "ArrayList.h"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int main(void) {</a:t>
            </a:r>
            <a:endParaRPr/>
          </a:p>
          <a:p>
            <a:pPr indent="0" lvl="0" marL="0" rtl="0" algn="l">
              <a:spcBef>
                <a:spcPts val="0"/>
              </a:spcBef>
              <a:spcAft>
                <a:spcPts val="0"/>
              </a:spcAft>
              <a:buNone/>
            </a:pPr>
            <a:r>
              <a:rPr lang="en"/>
              <a:t>    ArrayList *arrayList = arrayListCreate();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arrayListInsert(arrayList, 1);</a:t>
            </a:r>
            <a:endParaRPr/>
          </a:p>
          <a:p>
            <a:pPr indent="0" lvl="0" marL="0" rtl="0" algn="l">
              <a:spcBef>
                <a:spcPts val="0"/>
              </a:spcBef>
              <a:spcAft>
                <a:spcPts val="0"/>
              </a:spcAft>
              <a:buNone/>
            </a:pPr>
            <a:r>
              <a:rPr lang="en"/>
              <a:t>    arrayListInsert(arrayList, 2);</a:t>
            </a:r>
            <a:endParaRPr/>
          </a:p>
          <a:p>
            <a:pPr indent="0" lvl="0" marL="0" rtl="0" algn="l">
              <a:spcBef>
                <a:spcPts val="0"/>
              </a:spcBef>
              <a:spcAft>
                <a:spcPts val="0"/>
              </a:spcAft>
              <a:buNone/>
            </a:pPr>
            <a:r>
              <a:rPr lang="en"/>
              <a:t>    arrayListInsert(arrayList, 3);</a:t>
            </a:r>
            <a:endParaRPr/>
          </a:p>
          <a:p>
            <a:pPr indent="0" lvl="0" marL="0" rtl="0" algn="l">
              <a:spcBef>
                <a:spcPts val="0"/>
              </a:spcBef>
              <a:spcAft>
                <a:spcPts val="0"/>
              </a:spcAft>
              <a:buNone/>
            </a:pPr>
            <a:r>
              <a:rPr lang="en"/>
              <a:t>    arrayListInsert(arrayList, 4);</a:t>
            </a:r>
            <a:endParaRPr/>
          </a:p>
          <a:p>
            <a:pPr indent="0" lvl="0" marL="0" rtl="0" algn="l">
              <a:spcBef>
                <a:spcPts val="0"/>
              </a:spcBef>
              <a:spcAft>
                <a:spcPts val="0"/>
              </a:spcAft>
              <a:buNone/>
            </a:pPr>
            <a:r>
              <a:rPr lang="en"/>
              <a:t>    arrayListInsert(arrayList, 5);</a:t>
            </a:r>
            <a:endParaRPr/>
          </a:p>
          <a:p>
            <a:pPr indent="0" lvl="0" marL="0" rtl="0" algn="l">
              <a:spcBef>
                <a:spcPts val="0"/>
              </a:spcBef>
              <a:spcAft>
                <a:spcPts val="0"/>
              </a:spcAft>
              <a:buNone/>
            </a:pPr>
            <a:r>
              <a:rPr lang="en"/>
              <a:t>    arrayListInsert(arrayList, 6);</a:t>
            </a:r>
            <a:endParaRPr/>
          </a:p>
          <a:p>
            <a:pPr indent="0" lvl="0" marL="0" rtl="0" algn="l">
              <a:spcBef>
                <a:spcPts val="0"/>
              </a:spcBef>
              <a:spcAft>
                <a:spcPts val="0"/>
              </a:spcAft>
              <a:buNone/>
            </a:pPr>
            <a:r>
              <a:rPr lang="en"/>
              <a:t>    arrayListInsert(arrayList, 7);</a:t>
            </a:r>
            <a:endParaRPr/>
          </a:p>
          <a:p>
            <a:pPr indent="0" lvl="0" marL="0" rtl="0" algn="l">
              <a:spcBef>
                <a:spcPts val="0"/>
              </a:spcBef>
              <a:spcAft>
                <a:spcPts val="0"/>
              </a:spcAft>
              <a:buNone/>
            </a:pPr>
            <a:r>
              <a:rPr lang="en"/>
              <a:t>    arrayListPrint(arrayList);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arrayListRemove(arrayList, 4);</a:t>
            </a:r>
            <a:endParaRPr/>
          </a:p>
          <a:p>
            <a:pPr indent="0" lvl="0" marL="0" rtl="0" algn="l">
              <a:spcBef>
                <a:spcPts val="0"/>
              </a:spcBef>
              <a:spcAft>
                <a:spcPts val="0"/>
              </a:spcAft>
              <a:buNone/>
            </a:pPr>
            <a:r>
              <a:rPr lang="en"/>
              <a:t>    arrayListPrint(arrayList);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return 0;</a:t>
            </a:r>
            <a:endParaRPr/>
          </a:p>
          <a:p>
            <a:pPr indent="0" lvl="0" marL="0" rtl="0" algn="l">
              <a:spcBef>
                <a:spcPts val="0"/>
              </a:spcBef>
              <a:spcAft>
                <a:spcPts val="0"/>
              </a:spcAft>
              <a:buNone/>
            </a:pP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1</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is currently a bug with insert/remove in that if a value is inserted twice and then removed, only the first instance will be removed</a:t>
            </a:r>
            <a:endParaRPr/>
          </a:p>
          <a:p>
            <a:pPr indent="-342900" lvl="0" marL="457200" rtl="0" algn="l">
              <a:spcBef>
                <a:spcPts val="0"/>
              </a:spcBef>
              <a:spcAft>
                <a:spcPts val="0"/>
              </a:spcAft>
              <a:buSzPts val="1800"/>
              <a:buChar char="●"/>
            </a:pPr>
            <a:r>
              <a:rPr lang="en"/>
              <a:t>Modify arrayListInsert to check to see if the value is already in the list first and return an error if so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2</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is currently no way to release the memory held by an ArrayList</a:t>
            </a:r>
            <a:endParaRPr/>
          </a:p>
          <a:p>
            <a:pPr indent="-317500" lvl="1" marL="914400" rtl="0" algn="l">
              <a:spcBef>
                <a:spcPts val="0"/>
              </a:spcBef>
              <a:spcAft>
                <a:spcPts val="0"/>
              </a:spcAft>
              <a:buSzPts val="1400"/>
              <a:buChar char="○"/>
            </a:pPr>
            <a:r>
              <a:rPr lang="en"/>
              <a:t>This is very bad practice</a:t>
            </a:r>
            <a:endParaRPr/>
          </a:p>
          <a:p>
            <a:pPr indent="-342900" lvl="0" marL="457200" rtl="0" algn="l">
              <a:spcBef>
                <a:spcPts val="0"/>
              </a:spcBef>
              <a:spcAft>
                <a:spcPts val="0"/>
              </a:spcAft>
              <a:buSzPts val="1800"/>
              <a:buChar char="●"/>
            </a:pPr>
            <a:r>
              <a:rPr lang="en"/>
              <a:t>Create an arrayListDestroy function that takes a pointer to an ArrayList, frees all of its memory, and returns NULL</a:t>
            </a:r>
            <a:endParaRPr/>
          </a:p>
          <a:p>
            <a:pPr indent="-317500" lvl="1" marL="914400" rtl="0" algn="l">
              <a:spcBef>
                <a:spcPts val="0"/>
              </a:spcBef>
              <a:spcAft>
                <a:spcPts val="0"/>
              </a:spcAft>
              <a:buSzPts val="1400"/>
              <a:buChar char="○"/>
            </a:pPr>
            <a:r>
              <a:rPr lang="en"/>
              <a:t>This should be the inverse of the arrayListCreate function</a:t>
            </a:r>
            <a:endParaRPr/>
          </a:p>
          <a:p>
            <a:pPr indent="-342900" lvl="0" marL="457200" rtl="0" algn="l">
              <a:spcBef>
                <a:spcPts val="0"/>
              </a:spcBef>
              <a:spcAft>
                <a:spcPts val="0"/>
              </a:spcAft>
              <a:buSzPts val="1800"/>
              <a:buChar char="●"/>
            </a:pPr>
            <a:r>
              <a:rPr lang="en"/>
              <a:t>Modify the main function so that it properly releases the memory of the ArrayList before returning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Exercise 3</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Write an "arrayListGet" function that takes a pointer to an ArrayList and a desired index within the list to get</a:t>
            </a:r>
            <a:endParaRPr/>
          </a:p>
          <a:p>
            <a:pPr indent="-342900" lvl="0" marL="457200" rtl="0" algn="l">
              <a:spcBef>
                <a:spcPts val="0"/>
              </a:spcBef>
              <a:spcAft>
                <a:spcPts val="0"/>
              </a:spcAft>
              <a:buSzPts val="1800"/>
              <a:buChar char="●"/>
            </a:pPr>
            <a:r>
              <a:rPr lang="en"/>
              <a:t>Make it return a pointer to the element in the list if there are enough items in the list</a:t>
            </a:r>
            <a:endParaRPr/>
          </a:p>
          <a:p>
            <a:pPr indent="-317500" lvl="1" marL="914400" rtl="0" algn="l">
              <a:spcBef>
                <a:spcPts val="0"/>
              </a:spcBef>
              <a:spcAft>
                <a:spcPts val="0"/>
              </a:spcAft>
              <a:buSzPts val="1400"/>
              <a:buChar char="○"/>
            </a:pPr>
            <a:r>
              <a:rPr lang="en"/>
              <a:t>Getting a pointer for an element in a list is written:  &amp;array[index]</a:t>
            </a:r>
            <a:endParaRPr/>
          </a:p>
          <a:p>
            <a:pPr indent="-342900" lvl="0" marL="457200" rtl="0" algn="l">
              <a:spcBef>
                <a:spcPts val="0"/>
              </a:spcBef>
              <a:spcAft>
                <a:spcPts val="0"/>
              </a:spcAft>
              <a:buSzPts val="1800"/>
              <a:buChar char="●"/>
            </a:pPr>
            <a:r>
              <a:rPr lang="en"/>
              <a:t>Make it return NULL if the index specified is beyond the end of the list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Extra Credit</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 ArrayList in this lesson holds int values</a:t>
            </a:r>
            <a:endParaRPr/>
          </a:p>
          <a:p>
            <a:pPr indent="-342900" lvl="0" marL="457200" rtl="0" algn="l">
              <a:spcBef>
                <a:spcPts val="0"/>
              </a:spcBef>
              <a:spcAft>
                <a:spcPts val="0"/>
              </a:spcAft>
              <a:buSzPts val="1800"/>
              <a:buChar char="●"/>
            </a:pPr>
            <a:r>
              <a:rPr lang="en"/>
              <a:t>Copy it to "ArrayListString" and change it to hold C string values</a:t>
            </a:r>
            <a:endParaRPr/>
          </a:p>
          <a:p>
            <a:pPr indent="-342900" lvl="0" marL="457200" rtl="0" algn="l">
              <a:spcBef>
                <a:spcPts val="0"/>
              </a:spcBef>
              <a:spcAft>
                <a:spcPts val="0"/>
              </a:spcAft>
              <a:buSzPts val="1800"/>
              <a:buChar char="●"/>
            </a:pPr>
            <a:r>
              <a:rPr lang="en"/>
              <a:t>For this, your internal array will be an array of char* pointers</a:t>
            </a:r>
            <a:endParaRPr/>
          </a:p>
          <a:p>
            <a:pPr indent="-317500" lvl="1" marL="914400" rtl="0" algn="l">
              <a:spcBef>
                <a:spcPts val="0"/>
              </a:spcBef>
              <a:spcAft>
                <a:spcPts val="0"/>
              </a:spcAft>
              <a:buSzPts val="1400"/>
              <a:buChar char="○"/>
            </a:pPr>
            <a:r>
              <a:rPr lang="en"/>
              <a:t>You'll need to allocate memory for each string in the array</a:t>
            </a:r>
            <a:endParaRPr/>
          </a:p>
          <a:p>
            <a:pPr indent="-317500" lvl="1" marL="914400" rtl="0" algn="l">
              <a:spcBef>
                <a:spcPts val="0"/>
              </a:spcBef>
              <a:spcAft>
                <a:spcPts val="0"/>
              </a:spcAft>
              <a:buSzPts val="1400"/>
              <a:buChar char="○"/>
            </a:pPr>
            <a:r>
              <a:rPr lang="en"/>
              <a:t>You'll need to use the strlen function and the strcpy function to make a copy of the values that are inserted into the list</a:t>
            </a:r>
            <a:endParaRPr/>
          </a:p>
          <a:p>
            <a:pPr indent="-317500" lvl="1" marL="914400" rtl="0" algn="l">
              <a:spcBef>
                <a:spcPts val="0"/>
              </a:spcBef>
              <a:spcAft>
                <a:spcPts val="0"/>
              </a:spcAft>
              <a:buSzPts val="1400"/>
              <a:buChar char="○"/>
            </a:pPr>
            <a:r>
              <a:rPr lang="en"/>
              <a:t>Remember to account for the NULL byte at the end of the string when computing the size of a string!!</a:t>
            </a:r>
            <a:endParaRPr/>
          </a:p>
          <a:p>
            <a:pPr indent="-342900" lvl="0" marL="457200" rtl="0" algn="l">
              <a:spcBef>
                <a:spcPts val="0"/>
              </a:spcBef>
              <a:spcAft>
                <a:spcPts val="0"/>
              </a:spcAft>
              <a:buSzPts val="1800"/>
              <a:buChar char="●"/>
            </a:pPr>
            <a:r>
              <a:rPr lang="en"/>
              <a:t>You'll need to use the strcmp function to compare string values when searching</a:t>
            </a:r>
            <a:endParaRPr/>
          </a:p>
          <a:p>
            <a:pPr indent="-342900" lvl="0" marL="457200" rtl="0" algn="l">
              <a:spcBef>
                <a:spcPts val="0"/>
              </a:spcBef>
              <a:spcAft>
                <a:spcPts val="0"/>
              </a:spcAft>
              <a:buSzPts val="1800"/>
              <a:buChar char="●"/>
            </a:pPr>
            <a:r>
              <a:rPr lang="en"/>
              <a:t>Use the "%s" formatter with printf to print out the values in the arrayListPrint function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