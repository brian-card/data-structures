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91e393a3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91e393a3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91e393a3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c91e393a3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c91e393a3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c91e393a3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c91e393a3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c91e393a3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91e393a3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91e393a3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Data Structures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data structure?</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data structure is a way to store more than one element of related data</a:t>
            </a:r>
            <a:endParaRPr/>
          </a:p>
          <a:p>
            <a:pPr indent="-342900" lvl="0" marL="457200" rtl="0" algn="l">
              <a:spcBef>
                <a:spcPts val="0"/>
              </a:spcBef>
              <a:spcAft>
                <a:spcPts val="0"/>
              </a:spcAft>
              <a:buSzPts val="1800"/>
              <a:buChar char="●"/>
            </a:pPr>
            <a:r>
              <a:rPr lang="en"/>
              <a:t>Some examples include:</a:t>
            </a:r>
            <a:endParaRPr/>
          </a:p>
          <a:p>
            <a:pPr indent="-317500" lvl="1" marL="914400" rtl="0" algn="l">
              <a:spcBef>
                <a:spcPts val="0"/>
              </a:spcBef>
              <a:spcAft>
                <a:spcPts val="0"/>
              </a:spcAft>
              <a:buSzPts val="1400"/>
              <a:buChar char="○"/>
            </a:pPr>
            <a:r>
              <a:rPr lang="en"/>
              <a:t>A list of groceries</a:t>
            </a:r>
            <a:endParaRPr/>
          </a:p>
          <a:p>
            <a:pPr indent="-317500" lvl="1" marL="914400" rtl="0" algn="l">
              <a:spcBef>
                <a:spcPts val="0"/>
              </a:spcBef>
              <a:spcAft>
                <a:spcPts val="0"/>
              </a:spcAft>
              <a:buSzPts val="1400"/>
              <a:buChar char="○"/>
            </a:pPr>
            <a:r>
              <a:rPr lang="en"/>
              <a:t>The name and grades for all students in a class</a:t>
            </a:r>
            <a:endParaRPr/>
          </a:p>
          <a:p>
            <a:pPr indent="-317500" lvl="1" marL="914400" rtl="0" algn="l">
              <a:spcBef>
                <a:spcPts val="0"/>
              </a:spcBef>
              <a:spcAft>
                <a:spcPts val="0"/>
              </a:spcAft>
              <a:buSzPts val="1400"/>
              <a:buChar char="○"/>
            </a:pPr>
            <a:r>
              <a:rPr lang="en"/>
              <a:t>The </a:t>
            </a:r>
            <a:r>
              <a:rPr lang="en"/>
              <a:t>deposits</a:t>
            </a:r>
            <a:r>
              <a:rPr lang="en"/>
              <a:t> and withdrawals from a bank account in a month</a:t>
            </a:r>
            <a:endParaRPr/>
          </a:p>
          <a:p>
            <a:pPr indent="-342900" lvl="0" marL="457200" rtl="0" algn="l">
              <a:spcBef>
                <a:spcPts val="0"/>
              </a:spcBef>
              <a:spcAft>
                <a:spcPts val="0"/>
              </a:spcAft>
              <a:buSzPts val="1800"/>
              <a:buChar char="●"/>
            </a:pPr>
            <a:r>
              <a:rPr lang="en"/>
              <a:t>The simplest data structure is an array</a:t>
            </a:r>
            <a:endParaRPr/>
          </a:p>
          <a:p>
            <a:pPr indent="-317500" lvl="1" marL="914400" rtl="0" algn="l">
              <a:spcBef>
                <a:spcPts val="0"/>
              </a:spcBef>
              <a:spcAft>
                <a:spcPts val="0"/>
              </a:spcAft>
              <a:buSzPts val="1400"/>
              <a:buChar char="○"/>
            </a:pPr>
            <a:r>
              <a:rPr lang="en"/>
              <a:t>In C, this can be a static array declared as a variable or a dynamic array created and destroyed with dynamic memory functions</a:t>
            </a:r>
            <a:endParaRPr/>
          </a:p>
          <a:p>
            <a:pPr indent="-317500" lvl="1" marL="914400" rtl="0" algn="l">
              <a:spcBef>
                <a:spcPts val="0"/>
              </a:spcBef>
              <a:spcAft>
                <a:spcPts val="0"/>
              </a:spcAft>
              <a:buSzPts val="1400"/>
              <a:buChar char="○"/>
            </a:pPr>
            <a:r>
              <a:rPr lang="en"/>
              <a:t>In an array, all elements are simply addressed by their index</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would you need something else?</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There are multiple cases when a simple array may not be sufficient</a:t>
            </a:r>
            <a:endParaRPr/>
          </a:p>
          <a:p>
            <a:pPr indent="-342900" lvl="0" marL="457200" rtl="0" algn="l">
              <a:spcBef>
                <a:spcPts val="0"/>
              </a:spcBef>
              <a:spcAft>
                <a:spcPts val="0"/>
              </a:spcAft>
              <a:buSzPts val="1800"/>
              <a:buChar char="●"/>
            </a:pPr>
            <a:r>
              <a:rPr lang="en"/>
              <a:t>One is when you don't know how many things you need to represent up-front</a:t>
            </a:r>
            <a:endParaRPr/>
          </a:p>
          <a:p>
            <a:pPr indent="-317500" lvl="1" marL="914400" rtl="0" algn="l">
              <a:spcBef>
                <a:spcPts val="0"/>
              </a:spcBef>
              <a:spcAft>
                <a:spcPts val="0"/>
              </a:spcAft>
              <a:buSzPts val="1400"/>
              <a:buChar char="○"/>
            </a:pPr>
            <a:r>
              <a:rPr lang="en"/>
              <a:t>Arrays are difficult and slow to resize</a:t>
            </a:r>
            <a:endParaRPr/>
          </a:p>
          <a:p>
            <a:pPr indent="-342900" lvl="0" marL="457200" rtl="0" algn="l">
              <a:spcBef>
                <a:spcPts val="0"/>
              </a:spcBef>
              <a:spcAft>
                <a:spcPts val="0"/>
              </a:spcAft>
              <a:buSzPts val="1800"/>
              <a:buChar char="●"/>
            </a:pPr>
            <a:r>
              <a:rPr lang="en"/>
              <a:t>Another is when you need to lookup a value by something other than an index</a:t>
            </a:r>
            <a:endParaRPr/>
          </a:p>
          <a:p>
            <a:pPr indent="-317500" lvl="1" marL="914400" rtl="0" algn="l">
              <a:spcBef>
                <a:spcPts val="0"/>
              </a:spcBef>
              <a:spcAft>
                <a:spcPts val="0"/>
              </a:spcAft>
              <a:buSzPts val="1400"/>
              <a:buChar char="○"/>
            </a:pPr>
            <a:r>
              <a:rPr lang="en"/>
              <a:t>For example, you want to find the address of the person named, "Jane Doe"</a:t>
            </a:r>
            <a:endParaRPr/>
          </a:p>
          <a:p>
            <a:pPr indent="-317500" lvl="1" marL="914400" rtl="0" algn="l">
              <a:spcBef>
                <a:spcPts val="0"/>
              </a:spcBef>
              <a:spcAft>
                <a:spcPts val="0"/>
              </a:spcAft>
              <a:buSzPts val="1400"/>
              <a:buChar char="○"/>
            </a:pPr>
            <a:r>
              <a:rPr lang="en"/>
              <a:t>Doing this with only arrays would require keeping track of multiple arrays, which is inconvenient and error prone</a:t>
            </a:r>
            <a:endParaRPr/>
          </a:p>
          <a:p>
            <a:pPr indent="-342900" lvl="0" marL="457200" rtl="0" algn="l">
              <a:spcBef>
                <a:spcPts val="0"/>
              </a:spcBef>
              <a:spcAft>
                <a:spcPts val="0"/>
              </a:spcAft>
              <a:buSzPts val="1800"/>
              <a:buChar char="●"/>
            </a:pPr>
            <a:r>
              <a:rPr lang="en"/>
              <a:t>Another is when you need to find something quickly</a:t>
            </a:r>
            <a:endParaRPr/>
          </a:p>
          <a:p>
            <a:pPr indent="-317500" lvl="1" marL="914400" rtl="0" algn="l">
              <a:spcBef>
                <a:spcPts val="0"/>
              </a:spcBef>
              <a:spcAft>
                <a:spcPts val="0"/>
              </a:spcAft>
              <a:buSzPts val="1400"/>
              <a:buChar char="○"/>
            </a:pPr>
            <a:r>
              <a:rPr lang="en"/>
              <a:t>In a normal array, you have to start from the beginning and examine each element until you find what you're looking for</a:t>
            </a:r>
            <a:endParaRPr/>
          </a:p>
          <a:p>
            <a:pPr indent="-317500" lvl="1" marL="914400" rtl="0" algn="l">
              <a:spcBef>
                <a:spcPts val="0"/>
              </a:spcBef>
              <a:spcAft>
                <a:spcPts val="0"/>
              </a:spcAft>
              <a:buSzPts val="1400"/>
              <a:buChar char="○"/>
            </a:pPr>
            <a:r>
              <a:rPr lang="en"/>
              <a:t>In real-world situations, this is often too slow</a:t>
            </a:r>
            <a:endParaRPr/>
          </a:p>
          <a:p>
            <a:pPr indent="-317500" lvl="1" marL="914400" rtl="0" algn="l">
              <a:spcBef>
                <a:spcPts val="0"/>
              </a:spcBef>
              <a:spcAft>
                <a:spcPts val="0"/>
              </a:spcAft>
              <a:buSzPts val="1400"/>
              <a:buChar char="○"/>
            </a:pPr>
            <a:r>
              <a:rPr lang="en"/>
              <a:t>Data structures allow for organizing data for faster lookup</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Evaluating data structures</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Data structures are evaluated by the time complexity of their operations</a:t>
            </a:r>
            <a:endParaRPr/>
          </a:p>
          <a:p>
            <a:pPr indent="-317500" lvl="1" marL="914400" rtl="0" algn="l">
              <a:spcBef>
                <a:spcPts val="0"/>
              </a:spcBef>
              <a:spcAft>
                <a:spcPts val="0"/>
              </a:spcAft>
              <a:buSzPts val="1400"/>
              <a:buChar char="○"/>
            </a:pPr>
            <a:r>
              <a:rPr lang="en"/>
              <a:t>Basic operations are get, set, add, and delete</a:t>
            </a:r>
            <a:endParaRPr/>
          </a:p>
          <a:p>
            <a:pPr indent="-342900" lvl="0" marL="457200" rtl="0" algn="l">
              <a:spcBef>
                <a:spcPts val="0"/>
              </a:spcBef>
              <a:spcAft>
                <a:spcPts val="0"/>
              </a:spcAft>
              <a:buSzPts val="1800"/>
              <a:buChar char="●"/>
            </a:pPr>
            <a:r>
              <a:rPr lang="en"/>
              <a:t>We say that the time complexity of an operation is of a certain "Order" of "n" where n is the number of elements it holds</a:t>
            </a:r>
            <a:endParaRPr/>
          </a:p>
          <a:p>
            <a:pPr indent="-342900" lvl="0" marL="457200" rtl="0" algn="l">
              <a:spcBef>
                <a:spcPts val="0"/>
              </a:spcBef>
              <a:spcAft>
                <a:spcPts val="0"/>
              </a:spcAft>
              <a:buSzPts val="1800"/>
              <a:buChar char="●"/>
            </a:pPr>
            <a:r>
              <a:rPr lang="en"/>
              <a:t>We express this as "O(X)" where X is the value in relation to n</a:t>
            </a:r>
            <a:endParaRPr/>
          </a:p>
          <a:p>
            <a:pPr indent="-317500" lvl="1" marL="914400" rtl="0" algn="l">
              <a:spcBef>
                <a:spcPts val="0"/>
              </a:spcBef>
              <a:spcAft>
                <a:spcPts val="0"/>
              </a:spcAft>
              <a:buSzPts val="1400"/>
              <a:buChar char="○"/>
            </a:pPr>
            <a:r>
              <a:rPr lang="en"/>
              <a:t>For example, searching an unsorted array is "O(n)" because the number of comparisons scales directly with the number of elements in the array</a:t>
            </a:r>
            <a:endParaRPr/>
          </a:p>
          <a:p>
            <a:pPr indent="-317500" lvl="1" marL="914400" rtl="0" algn="l">
              <a:spcBef>
                <a:spcPts val="0"/>
              </a:spcBef>
              <a:spcAft>
                <a:spcPts val="0"/>
              </a:spcAft>
              <a:buSzPts val="1400"/>
              <a:buChar char="○"/>
            </a:pPr>
            <a:r>
              <a:rPr lang="en"/>
              <a:t>However, adding an element to an unsorted array is "O(1)" or "constant time" because it only requires setting the next value of the array after the current last value in it</a:t>
            </a:r>
            <a:endParaRPr/>
          </a:p>
          <a:p>
            <a:pPr indent="-317500" lvl="1" marL="914400" rtl="0" algn="l">
              <a:spcBef>
                <a:spcPts val="0"/>
              </a:spcBef>
              <a:spcAft>
                <a:spcPts val="0"/>
              </a:spcAft>
              <a:buSzPts val="1400"/>
              <a:buChar char="○"/>
            </a:pPr>
            <a:r>
              <a:rPr lang="en"/>
              <a:t>Deleting a value from an array is "O(n)" because it requires copying a number of elements from the deleted index to the end of the array and that number scales directly with the number of elements in the array</a:t>
            </a:r>
            <a:endParaRPr/>
          </a:p>
          <a:p>
            <a:pPr indent="-317500" lvl="1" marL="914400" rtl="0" algn="l">
              <a:spcBef>
                <a:spcPts val="0"/>
              </a:spcBef>
              <a:spcAft>
                <a:spcPts val="0"/>
              </a:spcAft>
              <a:buSzPts val="1400"/>
              <a:buChar char="○"/>
            </a:pPr>
            <a:r>
              <a:rPr lang="en"/>
              <a:t>Assuming you know the index you want to modify, setting the value of an existing element of an array is "O(1)" because you don't have to do any modification of the data structure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ordering</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Different data structures order internal data differently</a:t>
            </a:r>
            <a:endParaRPr/>
          </a:p>
          <a:p>
            <a:pPr indent="-317500" lvl="1" marL="914400" rtl="0" algn="l">
              <a:spcBef>
                <a:spcPts val="0"/>
              </a:spcBef>
              <a:spcAft>
                <a:spcPts val="0"/>
              </a:spcAft>
              <a:buSzPts val="1400"/>
              <a:buChar char="○"/>
            </a:pPr>
            <a:r>
              <a:rPr lang="en"/>
              <a:t>Some maintain the order things are added in</a:t>
            </a:r>
            <a:endParaRPr/>
          </a:p>
          <a:p>
            <a:pPr indent="-317500" lvl="1" marL="914400" rtl="0" algn="l">
              <a:spcBef>
                <a:spcPts val="0"/>
              </a:spcBef>
              <a:spcAft>
                <a:spcPts val="0"/>
              </a:spcAft>
              <a:buSzPts val="1400"/>
              <a:buChar char="○"/>
            </a:pPr>
            <a:r>
              <a:rPr lang="en"/>
              <a:t>Some maintain the data in sorted order</a:t>
            </a:r>
            <a:endParaRPr/>
          </a:p>
          <a:p>
            <a:pPr indent="-317500" lvl="1" marL="914400" rtl="0" algn="l">
              <a:spcBef>
                <a:spcPts val="0"/>
              </a:spcBef>
              <a:spcAft>
                <a:spcPts val="0"/>
              </a:spcAft>
              <a:buSzPts val="1400"/>
              <a:buChar char="○"/>
            </a:pPr>
            <a:r>
              <a:rPr lang="en"/>
              <a:t>Some maintain the data in semi-random order</a:t>
            </a:r>
            <a:endParaRPr/>
          </a:p>
          <a:p>
            <a:pPr indent="-342900" lvl="0" marL="457200" rtl="0" algn="l">
              <a:spcBef>
                <a:spcPts val="0"/>
              </a:spcBef>
              <a:spcAft>
                <a:spcPts val="0"/>
              </a:spcAft>
              <a:buSzPts val="1800"/>
              <a:buChar char="●"/>
            </a:pPr>
            <a:r>
              <a:rPr lang="en"/>
              <a:t>This means that there is no one data structure that is best for all cases</a:t>
            </a:r>
            <a:endParaRPr/>
          </a:p>
          <a:p>
            <a:pPr indent="-342900" lvl="0" marL="457200" rtl="0" algn="l">
              <a:spcBef>
                <a:spcPts val="0"/>
              </a:spcBef>
              <a:spcAft>
                <a:spcPts val="0"/>
              </a:spcAft>
              <a:buSzPts val="1800"/>
              <a:buChar char="●"/>
            </a:pPr>
            <a:r>
              <a:rPr lang="en"/>
              <a:t>How the program is going to use the data affects the choice of the data structure to use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Iterating</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addition to getting an arbitrary element from a data structure, all data structures support traversing them from the beginning to the end</a:t>
            </a:r>
            <a:endParaRPr/>
          </a:p>
          <a:p>
            <a:pPr indent="-342900" lvl="0" marL="457200" rtl="0" algn="l">
              <a:spcBef>
                <a:spcPts val="0"/>
              </a:spcBef>
              <a:spcAft>
                <a:spcPts val="0"/>
              </a:spcAft>
              <a:buSzPts val="1800"/>
              <a:buChar char="●"/>
            </a:pPr>
            <a:r>
              <a:rPr lang="en"/>
              <a:t>This is usually accomplished by an "iterator" that is dedicated to the data structure type</a:t>
            </a:r>
            <a:endParaRPr/>
          </a:p>
          <a:p>
            <a:pPr indent="-342900" lvl="0" marL="457200" rtl="0" algn="l">
              <a:spcBef>
                <a:spcPts val="0"/>
              </a:spcBef>
              <a:spcAft>
                <a:spcPts val="0"/>
              </a:spcAft>
              <a:buSzPts val="1800"/>
              <a:buChar char="●"/>
            </a:pPr>
            <a:r>
              <a:rPr lang="en"/>
              <a:t>Incrementing the iterator prepares it to provide the next value in the data structure</a:t>
            </a:r>
            <a:endParaRPr/>
          </a:p>
          <a:p>
            <a:pPr indent="-317500" lvl="1" marL="914400" rtl="0" algn="l">
              <a:spcBef>
                <a:spcPts val="0"/>
              </a:spcBef>
              <a:spcAft>
                <a:spcPts val="0"/>
              </a:spcAft>
              <a:buSzPts val="1400"/>
              <a:buChar char="○"/>
            </a:pPr>
            <a:r>
              <a:rPr lang="en"/>
              <a:t>The increment function destroys the iterator and returns NULL once there are no more elements to provide</a:t>
            </a:r>
            <a:endParaRPr/>
          </a:p>
          <a:p>
            <a:pPr indent="-342900" lvl="0" marL="457200" rtl="0" algn="l">
              <a:spcBef>
                <a:spcPts val="0"/>
              </a:spcBef>
              <a:spcAft>
                <a:spcPts val="0"/>
              </a:spcAft>
              <a:buSzPts val="1800"/>
              <a:buChar char="●"/>
            </a:pPr>
            <a:r>
              <a:rPr lang="en"/>
              <a:t>Accessing the value of the iterator provides the current value it references within the data structure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