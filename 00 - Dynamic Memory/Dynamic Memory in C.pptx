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E798D570-A9A0-4859-A6E0-6D3B8FE638E9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441F0DD-D7AE-4E2B-82C8-913C61C65CA4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7178386-810B-4B42-B3F1-08978289FF7C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DCF53E81-0923-4EB9-87CD-462E7E1C7F55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147C3E0-42A3-4B25-AA70-727822621D62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4157640" cy="341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7840" y="1152360"/>
            <a:ext cx="4157640" cy="341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BC89D2CD-9A0A-40D5-BA0E-738397242E1E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11D44801-E566-4694-A83D-F2A065DE4E7D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FEECB97-CB2E-4174-8B41-C71400A9ED4A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45120AA7-A626-40C7-8CFD-DEEA70409D6D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40B3DF44-CD08-423D-8BA0-E7977410B676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31520EC-20AA-4511-AE7D-365A2A281080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>
              <a:buNone/>
            </a:pPr>
            <a:r>
              <a:rPr b="0" lang="en-US" sz="52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571FAA2-315B-409B-8AE1-6D817A26A4D5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311760" y="1106280"/>
            <a:ext cx="8520120" cy="196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 fontScale="98341"/>
          </a:bodyPr>
          <a:p>
            <a:pPr indent="0" algn="ctr">
              <a:lnSpc>
                <a:spcPct val="100000"/>
              </a:lnSpc>
              <a:buNone/>
            </a:pPr>
            <a:r>
              <a:rPr b="0" lang="en-US" sz="12000" spc="-1" strike="noStrike">
                <a:solidFill>
                  <a:schemeClr val="dk1"/>
                </a:solidFill>
                <a:latin typeface="Arial"/>
                <a:ea typeface="Arial"/>
              </a:rPr>
              <a:t>xx%</a:t>
            </a:r>
            <a:endParaRPr b="0" lang="en-US" sz="1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311760" y="3152160"/>
            <a:ext cx="8520120" cy="130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50000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7AFBA7E-199D-45E8-85AB-8EE57780DD94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67D9FA1-E85E-47CA-AC7C-54B16247B980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11760" y="2151000"/>
            <a:ext cx="8520120" cy="84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>
              <a:buNone/>
            </a:pPr>
            <a:r>
              <a:rPr b="0" lang="en-US" sz="36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81D2376-F8AF-4089-A42B-B69365F2F362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buNone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27EDDFF-7EC7-436C-A1C8-6AA321A2FA25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buNone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399960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body"/>
          </p:nvPr>
        </p:nvSpPr>
        <p:spPr>
          <a:xfrm>
            <a:off x="4832280" y="1152360"/>
            <a:ext cx="399960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D0D8F40-7DC2-41B2-BF9C-E2E1AD0A15EB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buNone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063F23B-E010-490E-925D-65D691BCD46F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311760" y="555480"/>
            <a:ext cx="2807640" cy="755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 fontScale="81218"/>
          </a:bodyPr>
          <a:p>
            <a:pPr indent="0"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311760" y="1389600"/>
            <a:ext cx="2807640" cy="317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3586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ECA6429-B6C6-45FE-AC62-C9476ED085A8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90320" y="450000"/>
            <a:ext cx="6367320" cy="409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>
              <a:buNone/>
            </a:pPr>
            <a:r>
              <a:rPr b="0" lang="en-US" sz="4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953EDF7-BFCC-4F25-B118-E346AC9E1D68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6;p9"/>
          <p:cNvSpPr/>
          <p:nvPr/>
        </p:nvSpPr>
        <p:spPr>
          <a:xfrm>
            <a:off x="4572000" y="0"/>
            <a:ext cx="4571640" cy="51433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265680" y="1233000"/>
            <a:ext cx="4044960" cy="148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>
              <a:buNone/>
            </a:pPr>
            <a:r>
              <a:rPr b="0" lang="en-US" sz="42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939560" y="723960"/>
            <a:ext cx="3836520" cy="369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87222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970247E-1991-4C52-9D73-57210BE15728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body"/>
          </p:nvPr>
        </p:nvSpPr>
        <p:spPr>
          <a:xfrm>
            <a:off x="311760" y="4230720"/>
            <a:ext cx="5998320" cy="60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D72392C-7A4E-47BF-845B-F99066A5A5DC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5200" spc="-1" strike="noStrike">
                <a:solidFill>
                  <a:schemeClr val="dk1"/>
                </a:solidFill>
                <a:latin typeface="Arial"/>
                <a:ea typeface="Arial"/>
              </a:rPr>
              <a:t>Dynamic Memory in C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subTitle"/>
          </p:nvPr>
        </p:nvSpPr>
        <p:spPr>
          <a:xfrm>
            <a:off x="311760" y="2834280"/>
            <a:ext cx="8520120" cy="79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2"/>
                </a:solidFill>
                <a:latin typeface="Arial"/>
                <a:ea typeface="Arial"/>
              </a:rPr>
              <a:t>Brian Card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1"/>
                </a:solidFill>
                <a:latin typeface="Arial"/>
                <a:ea typeface="Arial"/>
              </a:rPr>
              <a:t>Dynamic memory functions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87222" lnSpcReduction="10000"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There are four (4) dynamic memory functions in C: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25800">
              <a:lnSpc>
                <a:spcPct val="115000"/>
              </a:lnSpc>
              <a:spcBef>
                <a:spcPts val="1199"/>
              </a:spcBef>
              <a:buClr>
                <a:srgbClr val="595959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malloc(size): Basic memory allocation.  Returns a pointer to allocated memory on success, NULL on failure.  Allocated memory is *NOT* guaranteed to be cleared to zero.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25800">
              <a:lnSpc>
                <a:spcPct val="115000"/>
              </a:lnSpc>
              <a:buClr>
                <a:srgbClr val="595959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free(pointer): Releases memory previously allocated by one of the other memory functions.  There is nothing returned.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25800">
              <a:lnSpc>
                <a:spcPct val="115000"/>
              </a:lnSpc>
              <a:buClr>
                <a:srgbClr val="595959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calloc(number of elements, size of each element): Allocates memory and clears all of the bytes to 0.  Returns a pointer to allocated, cleared memory on success, NULL on failure.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25800">
              <a:lnSpc>
                <a:spcPct val="115000"/>
              </a:lnSpc>
              <a:buClr>
                <a:srgbClr val="595959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realloc(pointer, size): Changes the size of memory previously allocated with malloc or calloc.  Returns a pointer to allocated memory (which may be the same as or different from the one passed in) on success, NULL if the reallocation was unsuccessful.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1"/>
                </a:solidFill>
                <a:latin typeface="Arial"/>
                <a:ea typeface="Arial"/>
              </a:rPr>
              <a:t>When to use malloc()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333" lnSpcReduction="10000"/>
          </a:bodyPr>
          <a:p>
            <a:pPr marL="457200" indent="-33444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"malloc" is short for "memory allocate"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3444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malloc() is the fastest of the functions that can allocate memory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068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It just finds the first thing that satisfies the size and returns it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3444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It's used when the user does not care about the contents of the returned memory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068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This means that the user will be initializing the memory and will *NOT* attempt to check any of the memory during initialization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3444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The parameter that's passed to malloc is the number of *bytes* you want allocated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068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This means that if you want something that is more than one byte in size, you'll have to use the right number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068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You can use C's "sizeof" operator to do this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068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For example:  int *myInt = (int*) malloc(sizeof(int));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3444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You can use malloc to create an array of things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068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For example, to declare an array of 42 ints:  int *myInts = (int*) malloc(42 * sizeof(int));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1"/>
                </a:solidFill>
                <a:latin typeface="Arial"/>
                <a:ea typeface="Arial"/>
              </a:rPr>
              <a:t>When to use free()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8333" lnSpcReduction="10000"/>
          </a:bodyPr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Use free when you're done with a piece of memory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It doesn't matter which function allocated the memory or if it was reallocated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Make sure you don't attempt to use a pointer once it's been freed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This will probably make your program crash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Make sure you don't attempt to free a piece of memory that's already been freed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This will also probably make your program crash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Always set your pointer to NULL after you free it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It's recommended that you write "free(pointer); pointer = NULL;" on one line so that you don't accidentally forget to set it to NULL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It is OK to free a NULL pointer (it just does nothing)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No need to check if a pointer is NULL before freeing it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1"/>
                </a:solidFill>
                <a:latin typeface="Arial"/>
                <a:ea typeface="Arial"/>
              </a:rPr>
              <a:t>When to use calloc()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87222"/>
          </a:bodyPr>
          <a:p>
            <a:pPr marL="457200" indent="-33444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"calloc" is short for "clear memory allocate"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3444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Use calloc when you need to guarantee that all the bytes in the memory you're using are set to zero or when you would be initializing it to zero anyway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068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This is important for some libraries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3444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Using calloc is usually slower than using malloc because of the extra work done to guarantee that all of the memory is zero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3444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Using calloc may be faster than setting it all to zero yourself because it may make use of special operating system functionality to do this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3444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The parameters to calloc are the number of elements and the size of each element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3444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Always set the number of elements to 1 and use the size you need as the second parameter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068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calloc has two parameters for historical reasons, but really only one is useful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1"/>
                </a:solidFill>
                <a:latin typeface="Arial"/>
                <a:ea typeface="Arial"/>
              </a:rPr>
              <a:t>When to use realloc()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"realloc" is short for "reallocate"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Use realloc when you need to make a piece of memory larger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It can technically also be used to make a piece of memory smaller, but this should be avoided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The parameters to realloc are the pointer to reallocate and the desired new size of the memory (*NOT* the number of bytes to be added)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realloc may have to allocate a new block of memory to satisfy the request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If it does, it will copy over the contents of the old memory to the new memory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realloc returns a pointer to the memory of the new size on success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*NEVER* assign the return value to the same pointer you passed in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Use a separate variable for the return value (more on this next)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1"/>
                </a:solidFill>
                <a:latin typeface="Arial"/>
                <a:ea typeface="Arial"/>
              </a:rPr>
              <a:t>Always check for NULL!!!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89999"/>
          </a:bodyPr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Memory allocation (or reallocation) can fail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If it does, then malloc, calloc, or realloc will return NULL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*ALWAYS* check the return value to make sure it's not NULL before continuing and handle a failure gracefully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If you don't check for NULL and memory allocation fails, your program will crash when it attempts to use the pointer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As mentioned in the realloc slide *NEVER* assign the return value of realloc back to the same pointer you pass in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realloc does not do anything with the pointer you pass in if reallocation fails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If you reassign the pointer you pass in and realloc fails, your pointer will become NULL and you will lose the ability to free the memory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This is called a "memory leak"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1"/>
                </a:solidFill>
                <a:latin typeface="Arial"/>
                <a:ea typeface="Arial"/>
              </a:rPr>
              <a:t>Memory leaks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75000" lnSpcReduction="10000"/>
          </a:bodyPr>
          <a:p>
            <a:pPr marL="457200" indent="-32580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A memory leak happens when the pointer to allocated memory is lost before the memory at that address is freed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2580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This can happen, for example, if you forget to free the memory you locally allocated in a function before it exits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0420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The pointer in the function will disappear when the function exits and you will have no knowledge of what it was and therefore will be unable to free it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2580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This can also happen if you assign the return value of a memory allocation function to a pointer that already held allocated memory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0420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The pointer will hold the value of the new block of memory and the address of the old block of memory will be forever lost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2580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Over time, memory leaks cause programs to consume large amounts of RAM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2580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If it consumes enough memory, it will start interfering with the operation of other programs on the system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2580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At that point, the operating system will be forced to kill the program in order to make enough RAM available for other programs to run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1"/>
                </a:solidFill>
                <a:latin typeface="Arial"/>
                <a:ea typeface="Arial"/>
              </a:rPr>
              <a:t>Best practices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89999"/>
          </a:bodyPr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When you write a line of code that allocates memory, immediately write the line of code that will free it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Put the logic of using the memory between the two lines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This will help ensure that the memory you allocate is deallocated properly before your function exits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Exception:  If the purpose of your function is to create and initialize a block of memory that is being returned to the caller then it obviously doesn't make sense to free the memory you allocate before the function ends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If your function has multiple return statements in it, make sure you free your memory before each one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Free memory in the reverse order the pointers were allocated in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This helps write some error handling code such as the way errors are handled in the Linux kernel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1"/>
                </a:solidFill>
                <a:latin typeface="Arial"/>
                <a:ea typeface="Arial"/>
              </a:rPr>
              <a:t>Example function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71666" lnSpcReduction="10000"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void testRandomNumbers(void)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    </a:t>
            </a: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const int numNumbers = 65536;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    </a:t>
            </a: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// Allocate an array numNumbers in length.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    </a:t>
            </a: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// We want everything to start at 0, so use calloc.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    </a:t>
            </a: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int *histogram = (int*) calloc(1, numNumbers * sizeof(int));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    </a:t>
            </a: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for (int ii = 0; ii &lt; 1000000; ii++) {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        </a:t>
            </a: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histogram[rand() % numNumbers]++;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    </a:t>
            </a: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    </a:t>
            </a: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plotHistogram(histogram, numNumbers);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    </a:t>
            </a: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free(histogram); histogram = NULL;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Courier New"/>
                <a:ea typeface="Courier New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1"/>
                </a:solidFill>
                <a:latin typeface="Arial"/>
                <a:ea typeface="Arial"/>
              </a:rPr>
              <a:t>Exercise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Write a program that allocates an array of 26 characters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Use a for loop to initialize the elements of the array to the letters 'a' through 'z'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Remember, characters are just numbers in C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So, if ii is between 0 and 25, you can write:  myLetters[ii] = 'a' + ii;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Use a second for loop to print out the letters in the array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Resize the array to hold the capital letters as well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Use a for loop to initialize the second half of the array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Arial"/>
              <a:buChar char="○"/>
            </a:pPr>
            <a:r>
              <a:rPr b="0" lang="en" sz="1400" spc="-1" strike="noStrike">
                <a:solidFill>
                  <a:schemeClr val="dk2"/>
                </a:solidFill>
                <a:latin typeface="Arial"/>
                <a:ea typeface="Arial"/>
              </a:rPr>
              <a:t>You can write:  myLetters[ii + NUM_LETTERS] = 'A' + ii;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Use another for loop to print out the full array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Free the array and exit the program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buNone/>
            </a:pPr>
            <a:endParaRPr b="0" lang="en-US" sz="2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chemeClr val="dk2"/>
              </a:solidFill>
              <a:latin typeface="Arial"/>
              <a:ea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2026-02-22T19:32:45Z</dcterms:modified>
  <cp:revision>1</cp:revision>
  <dc:subject/>
  <dc:title/>
</cp:coreProperties>
</file>